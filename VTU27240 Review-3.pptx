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9" r:id="rId11"/>
    <p:sldId id="267" r:id="rId12"/>
    <p:sldId id="268" r:id="rId13"/>
    <p:sldId id="272" r:id="rId14"/>
    <p:sldId id="271" r:id="rId15"/>
    <p:sldId id="273" r:id="rId16"/>
    <p:sldId id="270" r:id="rId17"/>
    <p:sldId id="265" r:id="rId18"/>
  </p:sldIdLst>
  <p:sldSz cx="18288000" cy="10287000"/>
  <p:notesSz cx="6858000" cy="9144000"/>
  <p:embeddedFontLst>
    <p:embeddedFont>
      <p:font typeface="Bookman Old Style" panose="02050604050505020204" pitchFamily="18" charset="0"/>
      <p:regular r:id="rId20"/>
      <p:bold r:id="rId21"/>
      <p:italic r:id="rId22"/>
      <p:boldItalic r:id="rId23"/>
    </p:embeddedFont>
    <p:embeddedFont>
      <p:font typeface="Cambria" panose="02040503050406030204" pitchFamily="18" charset="0"/>
      <p:regular r:id="rId24"/>
      <p:bold r:id="rId25"/>
      <p:italic r:id="rId26"/>
      <p:boldItalic r:id="rId27"/>
    </p:embeddedFont>
    <p:embeddedFont>
      <p:font typeface="Gotham" panose="020B0604020202020204" charset="0"/>
      <p:regular r:id="rId28"/>
    </p:embeddedFont>
    <p:embeddedFont>
      <p:font typeface="Gotham Bold Italics" panose="020B0604020202020204" charset="0"/>
      <p:regular r:id="rId29"/>
      <p:boldItalic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5"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showGuides="1">
      <p:cViewPr varScale="1">
        <p:scale>
          <a:sx n="52" d="100"/>
          <a:sy n="52" d="100"/>
        </p:scale>
        <p:origin x="29" y="110"/>
      </p:cViewPr>
      <p:guideLst>
        <p:guide orient="horz" pos="2175"/>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5/6/2026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pic>
        <p:nvPicPr>
          <p:cNvPr id="23" name="Picture 22"/>
          <p:cNvPicPr>
            <a:picLocks noChangeAspect="1"/>
          </p:cNvPicPr>
          <p:nvPr/>
        </p:nvPicPr>
        <p:blipFill>
          <a:blip r:embed="rId2"/>
          <a:stretch>
            <a:fillRect/>
          </a:stretch>
        </p:blipFill>
        <p:spPr>
          <a:xfrm>
            <a:off x="6799772" y="16492"/>
            <a:ext cx="4131816" cy="1784622"/>
          </a:xfrm>
          <a:prstGeom prst="rect">
            <a:avLst/>
          </a:prstGeom>
        </p:spPr>
      </p:pic>
      <p:sp>
        <p:nvSpPr>
          <p:cNvPr id="24" name="TextBox 23"/>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p:cNvSpPr txBox="1"/>
          <p:nvPr/>
        </p:nvSpPr>
        <p:spPr>
          <a:xfrm>
            <a:off x="1501640" y="6057900"/>
            <a:ext cx="15784162" cy="583565"/>
          </a:xfrm>
          <a:prstGeom prst="rect">
            <a:avLst/>
          </a:prstGeom>
          <a:noFill/>
        </p:spPr>
        <p:txBody>
          <a:bodyPr wrap="square" rtlCol="0">
            <a:spAutoFit/>
          </a:bodyPr>
          <a:lstStyle/>
          <a:p>
            <a:pPr algn="ctr"/>
            <a:r>
              <a:rPr lang="en-IN" altLang="en-US" sz="3200" b="1" dirty="0">
                <a:solidFill>
                  <a:srgbClr val="0033CC"/>
                </a:solidFill>
                <a:latin typeface="Times New Roman" panose="02020603050405020304" pitchFamily="18" charset="0"/>
                <a:cs typeface="Times New Roman" panose="02020603050405020304" pitchFamily="18" charset="0"/>
              </a:rPr>
              <a:t>JOB PORTAL MANAGEMENT SYSTEM</a:t>
            </a:r>
          </a:p>
        </p:txBody>
      </p:sp>
      <p:sp>
        <p:nvSpPr>
          <p:cNvPr id="14" name="TextBox 13"/>
          <p:cNvSpPr txBox="1"/>
          <p:nvPr/>
        </p:nvSpPr>
        <p:spPr>
          <a:xfrm>
            <a:off x="893870" y="7800539"/>
            <a:ext cx="9067800"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IN" altLang="en-US" sz="3000" dirty="0" err="1">
                <a:latin typeface="Cambria" panose="02040503050406030204" pitchFamily="18" charset="0"/>
                <a:ea typeface="Cambria" panose="02040503050406030204" pitchFamily="18" charset="0"/>
              </a:rPr>
              <a:t>D.Sri</a:t>
            </a:r>
            <a:r>
              <a:rPr lang="en-IN" altLang="en-US" sz="3000" dirty="0">
                <a:latin typeface="Cambria" panose="02040503050406030204" pitchFamily="18" charset="0"/>
                <a:ea typeface="Cambria" panose="02040503050406030204" pitchFamily="18" charset="0"/>
              </a:rPr>
              <a:t> Venkata Siddardha</a:t>
            </a:r>
            <a:r>
              <a:rPr lang="en-US" sz="3000" dirty="0">
                <a:latin typeface="Cambria" panose="02040503050406030204" pitchFamily="18" charset="0"/>
                <a:ea typeface="Cambria" panose="02040503050406030204" pitchFamily="18" charset="0"/>
              </a:rPr>
              <a:t>– VTU</a:t>
            </a:r>
            <a:r>
              <a:rPr lang="en-IN" altLang="en-US" sz="3000" dirty="0">
                <a:latin typeface="Cambria" panose="02040503050406030204" pitchFamily="18" charset="0"/>
                <a:ea typeface="Cambria" panose="02040503050406030204" pitchFamily="18" charset="0"/>
              </a:rPr>
              <a:t>27240</a:t>
            </a:r>
            <a:r>
              <a:rPr lang="en-US" sz="3000" dirty="0">
                <a:latin typeface="Cambria" panose="02040503050406030204" pitchFamily="18" charset="0"/>
                <a:ea typeface="Cambria" panose="02040503050406030204" pitchFamily="18" charset="0"/>
              </a:rPr>
              <a:t>– </a:t>
            </a:r>
            <a:r>
              <a:rPr lang="en-US" sz="3000" dirty="0" err="1">
                <a:latin typeface="Cambria" panose="02040503050406030204" pitchFamily="18" charset="0"/>
                <a:ea typeface="Cambria" panose="02040503050406030204" pitchFamily="18" charset="0"/>
              </a:rPr>
              <a:t>Reg.No</a:t>
            </a:r>
            <a:r>
              <a:rPr lang="en-US" sz="3000" dirty="0">
                <a:latin typeface="Cambria" panose="02040503050406030204" pitchFamily="18" charset="0"/>
                <a:ea typeface="Cambria" panose="02040503050406030204" pitchFamily="18" charset="0"/>
              </a:rPr>
              <a:t>.</a:t>
            </a:r>
            <a:r>
              <a:rPr lang="en-IN" altLang="en-US" sz="3000" dirty="0">
                <a:latin typeface="Cambria" panose="02040503050406030204" pitchFamily="18" charset="0"/>
                <a:ea typeface="Cambria" panose="02040503050406030204" pitchFamily="18" charset="0"/>
              </a:rPr>
              <a:t>23UECS0712</a:t>
            </a:r>
          </a:p>
        </p:txBody>
      </p:sp>
      <p:sp>
        <p:nvSpPr>
          <p:cNvPr id="15" name="TextBox 14"/>
          <p:cNvSpPr txBox="1"/>
          <p:nvPr/>
        </p:nvSpPr>
        <p:spPr>
          <a:xfrm>
            <a:off x="10591975" y="7748736"/>
            <a:ext cx="7543625"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altLang="en-US" sz="3000" dirty="0">
                <a:latin typeface="Cambria" panose="02040503050406030204" pitchFamily="18" charset="0"/>
                <a:ea typeface="Cambria" panose="02040503050406030204" pitchFamily="18" charset="0"/>
              </a:rPr>
              <a:t>Dr. HAFIZUR RAHMAN</a:t>
            </a:r>
            <a:r>
              <a:rPr lang="en-IN" altLang="en-US" sz="3000" dirty="0">
                <a:latin typeface="Cambria" panose="02040503050406030204" pitchFamily="18" charset="0"/>
                <a:ea typeface="Cambria" panose="02040503050406030204" pitchFamily="18" charset="0"/>
              </a:rPr>
              <a:t>-</a:t>
            </a:r>
            <a:r>
              <a:rPr lang="en-US" altLang="en-US" sz="3000" dirty="0">
                <a:latin typeface="Cambria" panose="02040503050406030204" pitchFamily="18" charset="0"/>
                <a:ea typeface="Cambria" panose="02040503050406030204" pitchFamily="18" charset="0"/>
              </a:rPr>
              <a:t>Ass</a:t>
            </a:r>
            <a:r>
              <a:rPr lang="en-IN" altLang="en-US" sz="3000" dirty="0">
                <a:latin typeface="Cambria" panose="02040503050406030204" pitchFamily="18" charset="0"/>
                <a:ea typeface="Cambria" panose="02040503050406030204" pitchFamily="18" charset="0"/>
              </a:rPr>
              <a:t>ociate</a:t>
            </a:r>
            <a:r>
              <a:rPr lang="en-US" altLang="en-US" sz="3000" dirty="0">
                <a:latin typeface="Cambria" panose="02040503050406030204" pitchFamily="18" charset="0"/>
                <a:ea typeface="Cambria" panose="02040503050406030204" pitchFamily="18" charset="0"/>
              </a:rPr>
              <a:t> Professor</a:t>
            </a:r>
          </a:p>
        </p:txBody>
      </p:sp>
      <p:sp>
        <p:nvSpPr>
          <p:cNvPr id="16" name="TextBox 15"/>
          <p:cNvSpPr txBox="1"/>
          <p:nvPr/>
        </p:nvSpPr>
        <p:spPr>
          <a:xfrm>
            <a:off x="2286000" y="6972300"/>
            <a:ext cx="14743170" cy="398780"/>
          </a:xfrm>
          <a:prstGeom prst="rect">
            <a:avLst/>
          </a:prstGeom>
          <a:noFill/>
        </p:spPr>
        <p:txBody>
          <a:bodyPr wrap="square" rtlCol="0">
            <a:spAutoFit/>
          </a:bodyPr>
          <a:lstStyle/>
          <a:p>
            <a:r>
              <a:rPr lang="en-US" altLang="en-US" sz="2000" b="1" dirty="0">
                <a:latin typeface="Cambria" panose="02040503050406030204" pitchFamily="18" charset="0"/>
                <a:ea typeface="Cambria" panose="02040503050406030204" pitchFamily="18" charset="0"/>
              </a:rPr>
              <a:t>SDG 8: Decent Work and Economic Growth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dirty="0">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p:cNvSpPr txBox="1"/>
          <p:nvPr/>
        </p:nvSpPr>
        <p:spPr>
          <a:xfrm>
            <a:off x="152400" y="342900"/>
            <a:ext cx="15849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2133600" y="2095500"/>
            <a:ext cx="15082520" cy="6562090"/>
          </a:xfrm>
          <a:prstGeom prst="rect">
            <a:avLst/>
          </a:prstGeom>
          <a:noFill/>
        </p:spPr>
        <p:txBody>
          <a:bodyPr wrap="square" rtlCol="0">
            <a:noAutofit/>
          </a:bodyPr>
          <a:lstStyle/>
          <a:p>
            <a:pPr marL="457200" indent="-457200">
              <a:buFontTx/>
              <a:buChar char="-"/>
            </a:pPr>
            <a:r>
              <a:rPr lang="en-US" altLang="en-US" sz="3000" dirty="0">
                <a:latin typeface="Times New Roman" panose="02020603050405020304" pitchFamily="18" charset="0"/>
                <a:cs typeface="Times New Roman" panose="02020603050405020304" pitchFamily="18" charset="0"/>
              </a:rPr>
              <a:t>Manual recruitment processes are often time-consuming, inefficient, and prone to errors. Job seekers may face challenges such as limited access to opportunities, lack of timely updates, and difficulty in tracking applications, while recruiters struggle with managing large volumes of applications manually. This project is important as it digitizes the entire recruitment process, making it faster, more transparent, and more efficient. It reduces manual effort and minimizes errors in candidate selection and data management.</a:t>
            </a:r>
          </a:p>
          <a:p>
            <a:pPr marL="457200" indent="-457200">
              <a:buFontTx/>
              <a:buChar char="-"/>
            </a:pPr>
            <a:endParaRPr lang="en-US" altLang="en-US" sz="3000" dirty="0">
              <a:latin typeface="Times New Roman" panose="02020603050405020304" pitchFamily="18" charset="0"/>
              <a:cs typeface="Times New Roman" panose="02020603050405020304" pitchFamily="18" charset="0"/>
            </a:endParaRPr>
          </a:p>
          <a:p>
            <a:pPr marL="457200" indent="-457200">
              <a:buFontTx/>
              <a:buChar char="-"/>
            </a:pPr>
            <a:r>
              <a:rPr lang="en-US" altLang="en-US" sz="3000" dirty="0">
                <a:latin typeface="Times New Roman" panose="02020603050405020304" pitchFamily="18" charset="0"/>
                <a:cs typeface="Times New Roman" panose="02020603050405020304" pitchFamily="18" charset="0"/>
              </a:rPr>
              <a:t>In real-world scenarios, job portals are widely used by companies, consultancies, and organizations to streamline hiring. Implementing this system provides a centralized platform where job seekers can search and apply for jobs, upload resumes, and track application status easily. It also includes an admin/recruiter module to post job openings, manage applications, shortlist candidates, and maintain records efficiently, thereby improving the overall recruitment process.</a:t>
            </a:r>
          </a:p>
          <a:p>
            <a:pPr marL="457200" indent="-457200">
              <a:buFontTx/>
              <a:buChar char="-"/>
            </a:pPr>
            <a:endParaRPr lang="en-US" altLang="en-US" sz="3000" dirty="0">
              <a:latin typeface="Times New Roman" panose="02020603050405020304" pitchFamily="18" charset="0"/>
              <a:cs typeface="Times New Roman" panose="02020603050405020304" pitchFamily="18" charset="0"/>
            </a:endParaRPr>
          </a:p>
        </p:txBody>
      </p:sp>
      <p:grpSp>
        <p:nvGrpSpPr>
          <p:cNvPr id="6" name="Group 37"/>
          <p:cNvGrpSpPr/>
          <p:nvPr/>
        </p:nvGrpSpPr>
        <p:grpSpPr>
          <a:xfrm>
            <a:off x="14020800" y="-8142801"/>
            <a:ext cx="10994424" cy="10994424"/>
            <a:chOff x="0" y="0"/>
            <a:chExt cx="812800" cy="812800"/>
          </a:xfrm>
        </p:grpSpPr>
        <p:sp>
          <p:nvSpPr>
            <p:cNvPr id="7"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0"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0" y="1216416"/>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8" name="TextBox 47"/>
          <p:cNvSpPr txBox="1"/>
          <p:nvPr/>
        </p:nvSpPr>
        <p:spPr>
          <a:xfrm>
            <a:off x="2209800" y="2147570"/>
            <a:ext cx="15082520" cy="6703060"/>
          </a:xfrm>
          <a:prstGeom prst="rect">
            <a:avLst/>
          </a:prstGeom>
          <a:noFill/>
        </p:spPr>
        <p:txBody>
          <a:bodyPr wrap="square" rtlCol="0">
            <a:noAutofit/>
          </a:bodyPr>
          <a:lstStyle/>
          <a:p>
            <a:pPr marL="457200" indent="-457200">
              <a:buFontTx/>
              <a:buChar char="-"/>
            </a:pPr>
            <a:r>
              <a:rPr lang="en-US" altLang="en-US" sz="3200" dirty="0">
                <a:latin typeface="Times New Roman" panose="02020603050405020304" pitchFamily="18" charset="0"/>
                <a:cs typeface="Times New Roman" panose="02020603050405020304" pitchFamily="18" charset="0"/>
              </a:rPr>
              <a:t>In many organizations and institutions, recruitment is still handled manually or through unstructured methods. This leads to delays in hiring, difficulty in managing a large number of applications, and lack of proper communication between job seekers and recruiters. Manual systems are prone to errors such as loss of candidate data, duplicate entries, and inefficient shortlisting processes. Job seekers often face challenges in finding suitable opportunities and tracking their application status. There is no centralized platform to manage job postings, applications, and candidate information effectively. This results in reduced efficiency and missed opportunities for both employers and applicants. Therefore, there is a need for a simple, secure, and automated Job Portal Management System. Such a system will improve accuracy, save time, and ensure a smooth and efficient recruitment process.</a:t>
            </a:r>
          </a:p>
          <a:p>
            <a:pPr indent="0">
              <a:buFontTx/>
              <a:buNone/>
            </a:pPr>
            <a:endParaRPr lang="en-US" altLang="en-US" sz="3200" dirty="0">
              <a:latin typeface="Times New Roman" panose="02020603050405020304" pitchFamily="18" charset="0"/>
              <a:cs typeface="Times New Roman" panose="02020603050405020304" pitchFamily="18" charset="0"/>
            </a:endParaRPr>
          </a:p>
        </p:txBody>
      </p:sp>
      <p:grpSp>
        <p:nvGrpSpPr>
          <p:cNvPr id="3" name="Group 37"/>
          <p:cNvGrpSpPr/>
          <p:nvPr/>
        </p:nvGrpSpPr>
        <p:grpSpPr>
          <a:xfrm>
            <a:off x="14020800" y="-8142801"/>
            <a:ext cx="10994424" cy="10994424"/>
            <a:chOff x="0" y="0"/>
            <a:chExt cx="812800" cy="812800"/>
          </a:xfrm>
        </p:grpSpPr>
        <p:sp>
          <p:nvSpPr>
            <p:cNvPr id="4"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5"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3" name="Group 37"/>
          <p:cNvGrpSpPr/>
          <p:nvPr/>
        </p:nvGrpSpPr>
        <p:grpSpPr>
          <a:xfrm>
            <a:off x="14020800" y="-8142801"/>
            <a:ext cx="10994424" cy="10994424"/>
            <a:chOff x="0" y="0"/>
            <a:chExt cx="812800" cy="812800"/>
          </a:xfrm>
        </p:grpSpPr>
        <p:sp>
          <p:nvSpPr>
            <p:cNvPr id="4"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5"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6" name="TextBox 5"/>
          <p:cNvSpPr txBox="1"/>
          <p:nvPr/>
        </p:nvSpPr>
        <p:spPr>
          <a:xfrm>
            <a:off x="2209800" y="1638300"/>
            <a:ext cx="15082325" cy="8278495"/>
          </a:xfrm>
          <a:prstGeom prst="rect">
            <a:avLst/>
          </a:prstGeom>
          <a:noFill/>
        </p:spPr>
        <p:txBody>
          <a:bodyPr wrap="square" rtlCol="0">
            <a:spAutoFit/>
          </a:bodyPr>
          <a:lstStyle/>
          <a:p>
            <a:pPr indent="0">
              <a:buFontTx/>
              <a:buNone/>
            </a:pPr>
            <a:endParaRPr lang="en-US" altLang="en-US" sz="2800" dirty="0"/>
          </a:p>
          <a:p>
            <a:pPr marL="457200" indent="-457200">
              <a:buFontTx/>
              <a:buChar char="-"/>
            </a:pPr>
            <a:r>
              <a:rPr lang="en-US" altLang="en-US" sz="2800" dirty="0"/>
              <a:t>To develop a web-based system for online job search and application:</a:t>
            </a:r>
          </a:p>
          <a:p>
            <a:pPr marL="457200" indent="-457200">
              <a:buFontTx/>
              <a:buChar char="-"/>
            </a:pPr>
            <a:r>
              <a:rPr lang="en-US" altLang="en-US" sz="2800" dirty="0"/>
              <a:t>The objective is to design and implement an interactive web application that enables users to easily browse available job opportunities, view detailed job descriptions, and apply for jobs anytime from anywhere. This system provides a smooth user experience with simple navigation, reducing dependency on traditional and time-consuming job search methods.</a:t>
            </a:r>
          </a:p>
          <a:p>
            <a:pPr marL="457200" indent="-457200">
              <a:buFontTx/>
              <a:buChar char="-"/>
            </a:pPr>
            <a:endParaRPr lang="en-US" altLang="en-US" sz="2800" dirty="0"/>
          </a:p>
          <a:p>
            <a:pPr marL="457200" indent="-457200">
              <a:buFontTx/>
              <a:buChar char="-"/>
            </a:pPr>
            <a:r>
              <a:rPr lang="en-IN" altLang="en-US" sz="2800" dirty="0"/>
              <a:t>T</a:t>
            </a:r>
            <a:r>
              <a:rPr lang="en-US" altLang="en-US" sz="2800" dirty="0"/>
              <a:t>o create an efficient admin/recruiter module for management:</a:t>
            </a:r>
          </a:p>
          <a:p>
            <a:pPr marL="457200" indent="-457200">
              <a:buFontTx/>
              <a:buChar char="-"/>
            </a:pPr>
            <a:r>
              <a:rPr lang="en-US" altLang="en-US" sz="2800" dirty="0"/>
              <a:t>The project aims to include a dedicated interface for recruiters that allows them to post and update job vacancies, manage applications, shortlist candidates, and track recruitment progress in real time. This improves coordination, reduces manual errors, and ensures efficient handling of large numbers of applicants.</a:t>
            </a:r>
          </a:p>
          <a:p>
            <a:pPr marL="457200" indent="-457200">
              <a:buFontTx/>
              <a:buChar char="-"/>
            </a:pPr>
            <a:endParaRPr lang="en-US" altLang="en-US" sz="2800" dirty="0"/>
          </a:p>
          <a:p>
            <a:pPr marL="457200" indent="-457200">
              <a:buFontTx/>
              <a:buChar char="-"/>
            </a:pPr>
            <a:r>
              <a:rPr lang="en-US" altLang="en-US" sz="2800" dirty="0"/>
              <a:t>To ensure a secure, fast, and user-friendly platform:</a:t>
            </a:r>
          </a:p>
          <a:p>
            <a:pPr marL="457200" indent="-457200">
              <a:buFontTx/>
              <a:buChar char="-"/>
            </a:pPr>
            <a:r>
              <a:rPr lang="en-US" altLang="en-US" sz="2800" dirty="0"/>
              <a:t>Another key objective is to build a reliable and secure system that protects user data, resumes, and application details. The platform will be optimized for performance and ease of use, making it accessible to all users while minimizing manual effort and improving the overall efficiency of the recruitment process.</a:t>
            </a:r>
          </a:p>
          <a:p>
            <a:pPr marL="457200" indent="-457200">
              <a:buFontTx/>
              <a:buChar char="-"/>
            </a:pPr>
            <a:endParaRPr lang="en-US" alt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p:cNvSpPr txBox="1"/>
          <p:nvPr/>
        </p:nvSpPr>
        <p:spPr>
          <a:xfrm>
            <a:off x="2209800" y="1638300"/>
            <a:ext cx="15082325" cy="6985635"/>
          </a:xfrm>
          <a:prstGeom prst="rect">
            <a:avLst/>
          </a:prstGeom>
          <a:noFill/>
        </p:spPr>
        <p:txBody>
          <a:bodyPr wrap="square" rtlCol="0">
            <a:spAutoFit/>
          </a:bodyPr>
          <a:lstStyle/>
          <a:p>
            <a:pPr marL="457200" indent="-457200">
              <a:buFontTx/>
              <a:buChar char="-"/>
            </a:pPr>
            <a:r>
              <a:rPr lang="en-US" altLang="en-US" sz="2800" dirty="0"/>
              <a:t>The proposed system is a web-based Job Portal Management System</a:t>
            </a:r>
            <a:r>
              <a:rPr lang="en-IN" altLang="en-US" sz="2800" dirty="0"/>
              <a:t> </a:t>
            </a:r>
            <a:r>
              <a:rPr lang="en-US" altLang="en-US" sz="2800" dirty="0"/>
              <a:t>designed to simplify and streamline the recruitment process. It provides a centralized platform where job seekers can search for job opportunities, view detailed job descriptions, and apply instantly. The system eliminates manual and unorganized hiring methods, thereby reducing delays and saving time for both applicants and recruiters.</a:t>
            </a:r>
          </a:p>
          <a:p>
            <a:pPr marL="457200" indent="-457200">
              <a:buFontTx/>
              <a:buChar char="-"/>
            </a:pPr>
            <a:endParaRPr lang="en-US" altLang="en-US" sz="2800" dirty="0"/>
          </a:p>
          <a:p>
            <a:pPr marL="457200" indent="-457200">
              <a:buFontTx/>
              <a:buChar char="-"/>
            </a:pPr>
            <a:r>
              <a:rPr lang="en-US" altLang="en-US" sz="2800" dirty="0"/>
              <a:t>It ensures accurate data management by maintaining digital records of job postings, applications, and candidate information, avoiding duplication and errors. An integrated admin/recruiter module allows employers to efficiently post jobs, manage applications, shortlist candidates, and update recruitment status in real time.</a:t>
            </a:r>
          </a:p>
          <a:p>
            <a:pPr marL="457200" indent="-457200">
              <a:buFontTx/>
              <a:buChar char="-"/>
            </a:pPr>
            <a:endParaRPr lang="en-US" altLang="en-US" sz="2800" dirty="0"/>
          </a:p>
          <a:p>
            <a:pPr marL="457200" indent="-457200">
              <a:buFontTx/>
              <a:buChar char="-"/>
            </a:pPr>
            <a:r>
              <a:rPr lang="en-US" altLang="en-US" sz="2800" dirty="0"/>
              <a:t>The system improves transparency by providing real-time updates on application status and notifications to users. Compared to traditional recruitment methods, it offers greater convenience, accessibility, and reliability through automation. Overall, it enhances user experience and ensures a smooth, fast, and well-organized hiring process.</a:t>
            </a:r>
          </a:p>
          <a:p>
            <a:pPr marL="457200" indent="-457200">
              <a:buFontTx/>
              <a:buChar char="-"/>
            </a:pPr>
            <a:endParaRPr lang="en-US" altLang="en-US" sz="2800" dirty="0"/>
          </a:p>
        </p:txBody>
      </p:sp>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TextBox 45"/>
          <p:cNvSpPr txBox="1"/>
          <p:nvPr/>
        </p:nvSpPr>
        <p:spPr>
          <a:xfrm>
            <a:off x="25879" y="400481"/>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2" name="Group 37"/>
          <p:cNvGrpSpPr/>
          <p:nvPr/>
        </p:nvGrpSpPr>
        <p:grpSpPr>
          <a:xfrm>
            <a:off x="14020800" y="-8142801"/>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2" name="TextBox 41"/>
          <p:cNvSpPr txBox="1"/>
          <p:nvPr/>
        </p:nvSpPr>
        <p:spPr>
          <a:xfrm>
            <a:off x="0" y="486639"/>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p:cNvSpPr txBox="1"/>
          <p:nvPr/>
        </p:nvSpPr>
        <p:spPr>
          <a:xfrm>
            <a:off x="2209800" y="1525905"/>
            <a:ext cx="15082520" cy="8011795"/>
          </a:xfrm>
          <a:prstGeom prst="rect">
            <a:avLst/>
          </a:prstGeom>
          <a:noFill/>
        </p:spPr>
        <p:txBody>
          <a:bodyPr wrap="square" rtlCol="0">
            <a:noAutofit/>
          </a:bodyPr>
          <a:lstStyle/>
          <a:p>
            <a:pPr marL="457200" indent="-457200">
              <a:buFontTx/>
              <a:buChar char="-"/>
            </a:pPr>
            <a:r>
              <a:rPr lang="en-US" altLang="en-US" sz="2800" dirty="0"/>
              <a:t>Input</a:t>
            </a:r>
          </a:p>
          <a:p>
            <a:pPr marL="457200" indent="-457200">
              <a:buFontTx/>
              <a:buChar char="-"/>
            </a:pPr>
            <a:r>
              <a:rPr lang="en-US" altLang="en-US" sz="2800" dirty="0"/>
              <a:t>The input includes user details such as login credentials, personal information, resume upload, and job preferences.</a:t>
            </a:r>
          </a:p>
          <a:p>
            <a:pPr marL="457200" indent="-457200">
              <a:buFontTx/>
              <a:buChar char="-"/>
            </a:pPr>
            <a:r>
              <a:rPr lang="en-US" altLang="en-US" sz="2800" dirty="0"/>
              <a:t>Recruiter/admin input includes job posting details like job title, company name, qualifications required, salary, and job description.</a:t>
            </a:r>
          </a:p>
          <a:p>
            <a:pPr marL="457200" indent="-457200">
              <a:buFontTx/>
              <a:buChar char="-"/>
            </a:pPr>
            <a:r>
              <a:rPr lang="en-US" altLang="en-US" sz="2800" dirty="0"/>
              <a:t>Processing</a:t>
            </a:r>
          </a:p>
          <a:p>
            <a:pPr marL="457200" indent="-457200">
              <a:buFontTx/>
              <a:buChar char="-"/>
            </a:pPr>
            <a:r>
              <a:rPr lang="en-US" altLang="en-US" sz="2800" dirty="0"/>
              <a:t>The system processes user requests by validating login credentials, matching user profiles with relevant job postings, and handling job application submissions.</a:t>
            </a:r>
          </a:p>
          <a:p>
            <a:pPr marL="457200" indent="-457200">
              <a:buFontTx/>
              <a:buChar char="-"/>
            </a:pPr>
            <a:r>
              <a:rPr lang="en-US" altLang="en-US" sz="2800" dirty="0"/>
              <a:t>It also processes recruiter actions such as posting jobs, shortlisting candidates, and updating application status while ensuring smooth interaction between users and recruiters.</a:t>
            </a:r>
          </a:p>
          <a:p>
            <a:pPr marL="457200" indent="-457200">
              <a:buFontTx/>
              <a:buChar char="-"/>
            </a:pPr>
            <a:r>
              <a:rPr lang="en-US" altLang="en-US" sz="2800" dirty="0"/>
              <a:t>Database</a:t>
            </a:r>
          </a:p>
          <a:p>
            <a:pPr marL="457200" indent="-457200">
              <a:buFontTx/>
              <a:buChar char="-"/>
            </a:pPr>
            <a:r>
              <a:rPr lang="en-US" altLang="en-US" sz="2800" dirty="0"/>
              <a:t>The database stores all important information such as user profiles, resumes, job postings, application records, and recruiter details.</a:t>
            </a:r>
          </a:p>
          <a:p>
            <a:pPr marL="457200" indent="-457200">
              <a:buFontTx/>
              <a:buChar char="-"/>
            </a:pPr>
            <a:r>
              <a:rPr lang="en-US" altLang="en-US" sz="2800" dirty="0"/>
              <a:t>It ensures secure storage and quick retrieval of data whenever required for efficient system performance.</a:t>
            </a:r>
          </a:p>
          <a:p>
            <a:pPr marL="457200" indent="-457200">
              <a:buFontTx/>
              <a:buChar char="-"/>
            </a:pPr>
            <a:r>
              <a:rPr lang="en-US" altLang="en-US" sz="2800" dirty="0"/>
              <a:t>Output</a:t>
            </a:r>
          </a:p>
          <a:p>
            <a:pPr marL="457200" indent="-457200">
              <a:buFontTx/>
              <a:buChar char="-"/>
            </a:pPr>
            <a:r>
              <a:rPr lang="en-US" altLang="en-US" sz="2800" dirty="0"/>
              <a:t>The output includes job listings, application confirmation, and status updates displayed to the user.</a:t>
            </a:r>
          </a:p>
          <a:p>
            <a:pPr marL="457200" indent="-457200">
              <a:buFontTx/>
              <a:buChar char="-"/>
            </a:pPr>
            <a:r>
              <a:rPr lang="en-US" altLang="en-US" sz="2800" dirty="0"/>
              <a:t>Recruiters/admin receive outputs such as applicant lists, shortlisted candidates, and reports on job postings and recruitment progress.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p:cNvSpPr txBox="1"/>
          <p:nvPr/>
        </p:nvSpPr>
        <p:spPr>
          <a:xfrm>
            <a:off x="190500" y="315938"/>
            <a:ext cx="158115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p:cNvSpPr txBox="1"/>
          <p:nvPr/>
        </p:nvSpPr>
        <p:spPr>
          <a:xfrm>
            <a:off x="2362200" y="1638300"/>
            <a:ext cx="15082325" cy="3969385"/>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2" name="Group 37"/>
          <p:cNvGrpSpPr/>
          <p:nvPr/>
        </p:nvGrpSpPr>
        <p:grpSpPr>
          <a:xfrm>
            <a:off x="14020800" y="-8142801"/>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pic>
        <p:nvPicPr>
          <p:cNvPr id="6" name="Picture 5" descr="Screenshot 2026-05-06 011724"/>
          <p:cNvPicPr>
            <a:picLocks noChangeAspect="1"/>
          </p:cNvPicPr>
          <p:nvPr/>
        </p:nvPicPr>
        <p:blipFill>
          <a:blip r:embed="rId2"/>
          <a:stretch>
            <a:fillRect/>
          </a:stretch>
        </p:blipFill>
        <p:spPr>
          <a:xfrm>
            <a:off x="2905125" y="1762125"/>
            <a:ext cx="12615545" cy="67627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p:cNvSpPr txBox="1"/>
          <p:nvPr/>
        </p:nvSpPr>
        <p:spPr>
          <a:xfrm>
            <a:off x="152400" y="342900"/>
            <a:ext cx="16764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09800" y="1638300"/>
            <a:ext cx="5551170" cy="2245360"/>
          </a:xfrm>
          <a:prstGeom prst="rect">
            <a:avLst/>
          </a:prstGeom>
          <a:noFill/>
        </p:spPr>
        <p:txBody>
          <a:bodyPr wrap="square" rtlCol="0">
            <a:spAutoFit/>
          </a:bodyPr>
          <a:lstStyle/>
          <a:p>
            <a:pPr marL="457200" indent="-457200">
              <a:buFontTx/>
              <a:buChar char="-"/>
            </a:pPr>
            <a:r>
              <a:rPr lang="en-US" altLang="en-US" sz="2800" dirty="0"/>
              <a:t>Frontend: HTML, CSS, JavaScript, React.js</a:t>
            </a:r>
          </a:p>
          <a:p>
            <a:pPr marL="457200" indent="-457200">
              <a:buFontTx/>
              <a:buChar char="-"/>
            </a:pPr>
            <a:r>
              <a:rPr lang="en-US" altLang="en-US" sz="2800" dirty="0"/>
              <a:t>Backend: Node.js, Express.js</a:t>
            </a:r>
          </a:p>
          <a:p>
            <a:pPr marL="457200" indent="-457200">
              <a:buFontTx/>
              <a:buChar char="-"/>
            </a:pPr>
            <a:r>
              <a:rPr lang="en-US" altLang="en-US" sz="2800" dirty="0"/>
              <a:t>Database: MongoDB</a:t>
            </a:r>
          </a:p>
          <a:p>
            <a:pPr marL="457200" indent="-457200">
              <a:buFontTx/>
              <a:buChar char="-"/>
            </a:pPr>
            <a:r>
              <a:rPr lang="en-US" altLang="en-US" sz="2800" dirty="0"/>
              <a:t>APIs: Email/SMS Notification API</a:t>
            </a:r>
          </a:p>
        </p:txBody>
      </p:sp>
      <p:grpSp>
        <p:nvGrpSpPr>
          <p:cNvPr id="2" name="Group 37"/>
          <p:cNvGrpSpPr/>
          <p:nvPr/>
        </p:nvGrpSpPr>
        <p:grpSpPr>
          <a:xfrm>
            <a:off x="14401800" y="-2955537"/>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5" name="Text Box 4"/>
          <p:cNvSpPr txBox="1"/>
          <p:nvPr/>
        </p:nvSpPr>
        <p:spPr>
          <a:xfrm>
            <a:off x="2209800" y="4229100"/>
            <a:ext cx="9144000" cy="2245360"/>
          </a:xfrm>
          <a:prstGeom prst="rect">
            <a:avLst/>
          </a:prstGeom>
          <a:noFill/>
        </p:spPr>
        <p:txBody>
          <a:bodyPr wrap="square" rtlCol="0" anchor="t">
            <a:spAutoFit/>
          </a:bodyPr>
          <a:lstStyle/>
          <a:p>
            <a:pPr marL="457200" indent="-457200">
              <a:buFontTx/>
              <a:buChar char="-"/>
            </a:pPr>
            <a:r>
              <a:rPr lang="en-IN" altLang="en-US" sz="2800" dirty="0">
                <a:sym typeface="+mn-ea"/>
              </a:rPr>
              <a:t>Tools</a:t>
            </a:r>
          </a:p>
          <a:p>
            <a:pPr marL="457200" indent="-457200">
              <a:buFontTx/>
              <a:buChar char="-"/>
            </a:pPr>
            <a:r>
              <a:rPr lang="en-US" altLang="en-US" sz="2800" dirty="0">
                <a:sym typeface="+mn-ea"/>
              </a:rPr>
              <a:t>Visual Studio Code</a:t>
            </a:r>
          </a:p>
          <a:p>
            <a:pPr marL="457200" indent="-457200">
              <a:buFontTx/>
              <a:buChar char="-"/>
            </a:pPr>
            <a:r>
              <a:rPr lang="en-US" altLang="en-US" sz="2800" dirty="0">
                <a:sym typeface="+mn-ea"/>
              </a:rPr>
              <a:t>Git &amp; GitHub </a:t>
            </a:r>
          </a:p>
          <a:p>
            <a:pPr marL="457200" indent="-457200">
              <a:buFontTx/>
              <a:buChar char="-"/>
            </a:pPr>
            <a:r>
              <a:rPr lang="en-US" altLang="en-US" sz="2800" dirty="0">
                <a:sym typeface="+mn-ea"/>
              </a:rPr>
              <a:t>Postman </a:t>
            </a:r>
          </a:p>
          <a:p>
            <a:pPr marL="457200" indent="-457200">
              <a:buFontTx/>
              <a:buChar char="-"/>
            </a:pPr>
            <a:r>
              <a:rPr lang="en-US" altLang="en-US" sz="2800" dirty="0">
                <a:sym typeface="+mn-ea"/>
              </a:rPr>
              <a:t>Google Chrome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261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56972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133600" y="1638300"/>
            <a:ext cx="15082325" cy="7847330"/>
          </a:xfrm>
          <a:prstGeom prst="rect">
            <a:avLst/>
          </a:prstGeom>
          <a:noFill/>
        </p:spPr>
        <p:txBody>
          <a:bodyPr wrap="square" rtlCol="0">
            <a:spAutoFit/>
          </a:bodyPr>
          <a:lstStyle/>
          <a:p>
            <a:r>
              <a:rPr lang="en-US" altLang="en-US" sz="2800" dirty="0"/>
              <a:t>Module 1: User Management</a:t>
            </a:r>
          </a:p>
          <a:p>
            <a:r>
              <a:rPr lang="en-US" altLang="en-US" sz="2800" dirty="0"/>
              <a:t>Handles user registration, login, and profile management with secure authentication.</a:t>
            </a:r>
          </a:p>
          <a:p>
            <a:r>
              <a:rPr lang="en-US" altLang="en-US" sz="2800" dirty="0"/>
              <a:t>Allows users to create accounts, upload resumes, update personal details, and track their job applications.</a:t>
            </a:r>
          </a:p>
          <a:p>
            <a:r>
              <a:rPr lang="en-US" altLang="en-US" sz="2800" dirty="0"/>
              <a:t>Module 2: Job &amp; Application Management (Core Processing)</a:t>
            </a:r>
          </a:p>
          <a:p>
            <a:r>
              <a:rPr lang="en-US" altLang="en-US" sz="2800" dirty="0"/>
              <a:t>Manages job posting, job listing, and application process.</a:t>
            </a:r>
          </a:p>
          <a:p>
            <a:r>
              <a:rPr lang="en-US" altLang="en-US" sz="2800" dirty="0"/>
              <a:t>Processes user actions such as searching jobs, applying for jobs, and allows recruiters to manage job postings and applications efficiently.</a:t>
            </a:r>
          </a:p>
          <a:p>
            <a:r>
              <a:rPr lang="en-US" altLang="en-US" sz="2800" dirty="0"/>
              <a:t>Module 3: Database Management</a:t>
            </a:r>
          </a:p>
          <a:p>
            <a:r>
              <a:rPr lang="en-US" altLang="en-US" sz="2800" dirty="0"/>
              <a:t>Stores and manages user profiles, resumes, job details, recruiter information, and application records.</a:t>
            </a:r>
          </a:p>
          <a:p>
            <a:r>
              <a:rPr lang="en-US" altLang="en-US" sz="2800" dirty="0"/>
              <a:t>Ensures data integrity, consistency, and quick retrieval of information whenever required.</a:t>
            </a:r>
          </a:p>
          <a:p>
            <a:r>
              <a:rPr lang="en-US" altLang="en-US" sz="2800" dirty="0"/>
              <a:t>Module 4: Notification Module (Innovative Module)</a:t>
            </a:r>
          </a:p>
          <a:p>
            <a:r>
              <a:rPr lang="en-US" altLang="en-US" sz="2800" dirty="0"/>
              <a:t>Provides real-time notifications such as job alerts, application status updates, and interview notifications.</a:t>
            </a:r>
          </a:p>
          <a:p>
            <a:r>
              <a:rPr lang="en-US" altLang="en-US" sz="2800" dirty="0"/>
              <a:t>Uses Email/SMS services to keep users and recruiters informed and updated.</a:t>
            </a:r>
          </a:p>
          <a:p>
            <a:r>
              <a:rPr lang="en-US" altLang="en-US" sz="2800" dirty="0"/>
              <a:t>Module 5: Reporting &amp; Analytics</a:t>
            </a:r>
          </a:p>
          <a:p>
            <a:r>
              <a:rPr lang="en-US" altLang="en-US" sz="2800" dirty="0"/>
              <a:t>Generates reports such as number of applicants, job postings, and recruitment progress.</a:t>
            </a:r>
          </a:p>
          <a:p>
            <a:r>
              <a:rPr lang="en-US" altLang="en-US" sz="2800" dirty="0"/>
              <a:t>Helps recruiters analyze data and make better hiring decisions.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2468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7112000"/>
            <a:ext cx="15082520" cy="2088515"/>
          </a:xfrm>
          <a:prstGeom prst="rect">
            <a:avLst/>
          </a:prstGeom>
          <a:noFill/>
        </p:spPr>
        <p:txBody>
          <a:bodyPr wrap="square" rtlCol="0">
            <a:noAutofit/>
          </a:bodyPr>
          <a:lstStyle/>
          <a:p>
            <a:pPr marL="457200" indent="-457200">
              <a:buFontTx/>
              <a:buChar char="-"/>
            </a:pPr>
            <a:r>
              <a:rPr lang="en-US" altLang="en-US" sz="2800" dirty="0"/>
              <a:t>This page displays a user-friendly job listing interface where users can search, filter, and browse available job opportunities with details such as job title, company name, location, and required skills.</a:t>
            </a:r>
          </a:p>
          <a:p>
            <a:pPr marL="457200" indent="-457200">
              <a:buFontTx/>
              <a:buChar char="-"/>
            </a:pPr>
            <a:r>
              <a:rPr lang="en-US" altLang="en-US" sz="2800" dirty="0"/>
              <a:t>It also allows users to quickly view job descriptions and apply for jobs online through a simple and interactive “Apply Now” option.</a:t>
            </a:r>
          </a:p>
        </p:txBody>
      </p:sp>
      <p:sp>
        <p:nvSpPr>
          <p:cNvPr id="6" name="Text Box 5"/>
          <p:cNvSpPr txBox="1"/>
          <p:nvPr/>
        </p:nvSpPr>
        <p:spPr>
          <a:xfrm>
            <a:off x="2331720" y="4288155"/>
            <a:ext cx="6096000" cy="368300"/>
          </a:xfrm>
          <a:prstGeom prst="rect">
            <a:avLst/>
          </a:prstGeom>
          <a:noFill/>
        </p:spPr>
        <p:txBody>
          <a:bodyPr wrap="square" rtlCol="0">
            <a:spAutoFit/>
          </a:bodyPr>
          <a:lstStyle/>
          <a:p>
            <a:endParaRPr lang="en-US"/>
          </a:p>
        </p:txBody>
      </p:sp>
      <p:pic>
        <p:nvPicPr>
          <p:cNvPr id="3" name="Picture 2" descr="Screenshot 2026-05-06 at 1.31.10 AM"/>
          <p:cNvPicPr>
            <a:picLocks noChangeAspect="1"/>
          </p:cNvPicPr>
          <p:nvPr/>
        </p:nvPicPr>
        <p:blipFill>
          <a:blip r:embed="rId2"/>
          <a:stretch>
            <a:fillRect/>
          </a:stretch>
        </p:blipFill>
        <p:spPr>
          <a:xfrm>
            <a:off x="3124200" y="1638300"/>
            <a:ext cx="12795250" cy="52368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8(B)</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6306799"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64133" y="1600443"/>
            <a:ext cx="5257800"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r>
              <a:rPr lang="en-US" sz="2800" dirty="0"/>
              <a:t>Admin Login Page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4" name="Text Box 33"/>
          <p:cNvSpPr txBox="1"/>
          <p:nvPr/>
        </p:nvSpPr>
        <p:spPr>
          <a:xfrm>
            <a:off x="2057400" y="8343900"/>
            <a:ext cx="6826885" cy="1086485"/>
          </a:xfrm>
          <a:prstGeom prst="rect">
            <a:avLst/>
          </a:prstGeom>
          <a:noFill/>
        </p:spPr>
        <p:txBody>
          <a:bodyPr wrap="square" rtlCol="0">
            <a:noAutofit/>
          </a:bodyPr>
          <a:lstStyle/>
          <a:p>
            <a:r>
              <a:rPr lang="en-US" altLang="en-US" sz="2800">
                <a:latin typeface="Times New Roman" panose="02020603050405020304" pitchFamily="18" charset="0"/>
                <a:cs typeface="Times New Roman" panose="02020603050405020304" pitchFamily="18" charset="0"/>
              </a:rPr>
              <a:t>This image shows a secure login page for the recruiter/admin side of a Job Portal system.</a:t>
            </a:r>
          </a:p>
        </p:txBody>
      </p:sp>
      <p:pic>
        <p:nvPicPr>
          <p:cNvPr id="6" name="Picture 5" descr="Screenshot 2026-05-06 at 1.31.45 AM"/>
          <p:cNvPicPr>
            <a:picLocks noChangeAspect="1"/>
          </p:cNvPicPr>
          <p:nvPr/>
        </p:nvPicPr>
        <p:blipFill>
          <a:blip r:embed="rId2"/>
          <a:stretch>
            <a:fillRect/>
          </a:stretch>
        </p:blipFill>
        <p:spPr>
          <a:xfrm>
            <a:off x="3982085" y="2933700"/>
            <a:ext cx="10643870" cy="50444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2468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57734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2209800" y="1638300"/>
            <a:ext cx="15082325" cy="5692775"/>
          </a:xfrm>
          <a:prstGeom prst="rect">
            <a:avLst/>
          </a:prstGeom>
          <a:noFill/>
        </p:spPr>
        <p:txBody>
          <a:bodyPr wrap="square" rtlCol="0">
            <a:spAutoFit/>
          </a:bodyPr>
          <a:lstStyle/>
          <a:p>
            <a:pPr indent="0">
              <a:buFontTx/>
              <a:buNone/>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4" name="Text Box 3"/>
          <p:cNvSpPr txBox="1"/>
          <p:nvPr/>
        </p:nvSpPr>
        <p:spPr>
          <a:xfrm>
            <a:off x="2209800" y="7931785"/>
            <a:ext cx="13472160" cy="1546225"/>
          </a:xfrm>
          <a:prstGeom prst="rect">
            <a:avLst/>
          </a:prstGeom>
          <a:noFill/>
        </p:spPr>
        <p:txBody>
          <a:bodyPr wrap="square" rtlCol="0">
            <a:noAutofit/>
          </a:bodyPr>
          <a:lstStyle/>
          <a:p>
            <a:r>
              <a:rPr lang="en-US" altLang="en-US" sz="2800">
                <a:latin typeface="Times New Roman" panose="02020603050405020304" pitchFamily="18" charset="0"/>
                <a:cs typeface="Times New Roman" panose="02020603050405020304" pitchFamily="18" charset="0"/>
              </a:rPr>
              <a:t>This image shows an Admin Dashboard of a Job Portal Management System (HireSync AI).</a:t>
            </a:r>
          </a:p>
        </p:txBody>
      </p:sp>
      <p:pic>
        <p:nvPicPr>
          <p:cNvPr id="5" name="Picture 4" descr="Screenshot 2026-05-06 at 1.32.45 AM"/>
          <p:cNvPicPr>
            <a:picLocks noChangeAspect="1"/>
          </p:cNvPicPr>
          <p:nvPr/>
        </p:nvPicPr>
        <p:blipFill>
          <a:blip r:embed="rId2"/>
          <a:stretch>
            <a:fillRect/>
          </a:stretch>
        </p:blipFill>
        <p:spPr>
          <a:xfrm>
            <a:off x="4572000" y="1790700"/>
            <a:ext cx="9279890" cy="51384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2209800" y="1638300"/>
            <a:ext cx="15082325" cy="5262245"/>
          </a:xfrm>
          <a:prstGeom prst="rect">
            <a:avLst/>
          </a:prstGeom>
          <a:noFill/>
        </p:spPr>
        <p:txBody>
          <a:bodyPr wrap="square" rtlCol="0">
            <a:spAutoFit/>
          </a:bodyPr>
          <a:lstStyle/>
          <a:p>
            <a:pPr indent="0">
              <a:buFontTx/>
              <a:buNone/>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5" name="Text Box 4"/>
          <p:cNvSpPr txBox="1"/>
          <p:nvPr/>
        </p:nvSpPr>
        <p:spPr>
          <a:xfrm>
            <a:off x="2286000" y="7703820"/>
            <a:ext cx="14173200" cy="1809115"/>
          </a:xfrm>
          <a:prstGeom prst="rect">
            <a:avLst/>
          </a:prstGeom>
          <a:noFill/>
        </p:spPr>
        <p:txBody>
          <a:bodyPr wrap="square" rtlCol="0">
            <a:noAutofit/>
          </a:bodyPr>
          <a:lstStyle/>
          <a:p>
            <a:r>
              <a:rPr lang="en-IN" altLang="en-US" sz="2800">
                <a:latin typeface="Times New Roman" panose="02020603050405020304" pitchFamily="18" charset="0"/>
                <a:cs typeface="Times New Roman" panose="02020603050405020304" pitchFamily="18" charset="0"/>
              </a:rPr>
              <a:t>T</a:t>
            </a:r>
            <a:r>
              <a:rPr lang="en-US" altLang="en-US" sz="2800">
                <a:latin typeface="Times New Roman" panose="02020603050405020304" pitchFamily="18" charset="0"/>
                <a:cs typeface="Times New Roman" panose="02020603050405020304" pitchFamily="18" charset="0"/>
              </a:rPr>
              <a:t>his image shows a User Profile Form page in a Job Portal Management System.</a:t>
            </a:r>
          </a:p>
        </p:txBody>
      </p:sp>
      <p:pic>
        <p:nvPicPr>
          <p:cNvPr id="4" name="Picture 3" descr="Screenshot 2026-05-06 at 1.53.28 AM"/>
          <p:cNvPicPr>
            <a:picLocks noChangeAspect="1"/>
          </p:cNvPicPr>
          <p:nvPr/>
        </p:nvPicPr>
        <p:blipFill>
          <a:blip r:embed="rId2"/>
          <a:stretch>
            <a:fillRect/>
          </a:stretch>
        </p:blipFill>
        <p:spPr>
          <a:xfrm>
            <a:off x="6339205" y="1982470"/>
            <a:ext cx="6067425" cy="43865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2209800" y="1638300"/>
            <a:ext cx="15082325" cy="5262245"/>
          </a:xfrm>
          <a:prstGeom prst="rect">
            <a:avLst/>
          </a:prstGeom>
          <a:noFill/>
        </p:spPr>
        <p:txBody>
          <a:bodyPr wrap="square" rtlCol="0">
            <a:spAutoFit/>
          </a:bodyPr>
          <a:lstStyle/>
          <a:p>
            <a:pPr indent="0">
              <a:buFontTx/>
              <a:buNone/>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4" name="Text Box 3"/>
          <p:cNvSpPr txBox="1"/>
          <p:nvPr/>
        </p:nvSpPr>
        <p:spPr>
          <a:xfrm>
            <a:off x="2362200" y="7709535"/>
            <a:ext cx="13608685" cy="1425575"/>
          </a:xfrm>
          <a:prstGeom prst="rect">
            <a:avLst/>
          </a:prstGeom>
          <a:noFill/>
        </p:spPr>
        <p:txBody>
          <a:bodyPr wrap="square" rtlCol="0">
            <a:noAutofit/>
          </a:bodyPr>
          <a:lstStyle/>
          <a:p>
            <a:r>
              <a:rPr lang="en-US" altLang="en-US" sz="2800">
                <a:latin typeface="Times New Roman" panose="02020603050405020304" pitchFamily="18" charset="0"/>
                <a:cs typeface="Times New Roman" panose="02020603050405020304" pitchFamily="18" charset="0"/>
              </a:rPr>
              <a:t>This image shows an application status page</a:t>
            </a:r>
            <a:r>
              <a:rPr lang="en-IN" altLang="en-US" sz="2800">
                <a:latin typeface="Times New Roman" panose="02020603050405020304" pitchFamily="18" charset="0"/>
                <a:cs typeface="Times New Roman" panose="02020603050405020304" pitchFamily="18" charset="0"/>
              </a:rPr>
              <a:t> </a:t>
            </a:r>
            <a:r>
              <a:rPr lang="en-US" altLang="en-US" sz="2800">
                <a:latin typeface="Times New Roman" panose="02020603050405020304" pitchFamily="18" charset="0"/>
                <a:cs typeface="Times New Roman" panose="02020603050405020304" pitchFamily="18" charset="0"/>
              </a:rPr>
              <a:t>in a Job Portal Management System. It displays that the user has applied for the role of </a:t>
            </a:r>
            <a:r>
              <a:rPr lang="en-IN" altLang="en-US" sz="2800">
                <a:latin typeface="Times New Roman" panose="02020603050405020304" pitchFamily="18" charset="0"/>
                <a:cs typeface="Times New Roman" panose="02020603050405020304" pitchFamily="18" charset="0"/>
              </a:rPr>
              <a:t> </a:t>
            </a:r>
            <a:r>
              <a:rPr lang="en-US" altLang="en-US" sz="2800">
                <a:latin typeface="Times New Roman" panose="02020603050405020304" pitchFamily="18" charset="0"/>
                <a:cs typeface="Times New Roman" panose="02020603050405020304" pitchFamily="18" charset="0"/>
              </a:rPr>
              <a:t>UI/UX Designer, and the current status is marked as Pending. The page indicates that the application is under review, and the hiring team is evaluating the candidate’s profile.</a:t>
            </a:r>
          </a:p>
          <a:p>
            <a:endParaRPr lang="en-US" altLang="en-US" sz="2800">
              <a:latin typeface="Times New Roman" panose="02020603050405020304" pitchFamily="18" charset="0"/>
              <a:cs typeface="Times New Roman" panose="02020603050405020304" pitchFamily="18" charset="0"/>
            </a:endParaRPr>
          </a:p>
        </p:txBody>
      </p:sp>
      <p:pic>
        <p:nvPicPr>
          <p:cNvPr id="5" name="Picture 4" descr="Screenshot 2026-05-06 at 1.53.54 AM"/>
          <p:cNvPicPr>
            <a:picLocks noChangeAspect="1"/>
          </p:cNvPicPr>
          <p:nvPr/>
        </p:nvPicPr>
        <p:blipFill>
          <a:blip r:embed="rId2"/>
          <a:stretch>
            <a:fillRect/>
          </a:stretch>
        </p:blipFill>
        <p:spPr>
          <a:xfrm>
            <a:off x="5208270" y="1299845"/>
            <a:ext cx="7916545" cy="591121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2209800" y="1638300"/>
            <a:ext cx="15082325" cy="5692775"/>
          </a:xfrm>
          <a:prstGeom prst="rect">
            <a:avLst/>
          </a:prstGeom>
          <a:noFill/>
        </p:spPr>
        <p:txBody>
          <a:bodyPr wrap="square" rtlCol="0">
            <a:spAutoFit/>
          </a:bodyPr>
          <a:lstStyle/>
          <a:p>
            <a:pPr indent="0">
              <a:buFontTx/>
              <a:buNone/>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4" name="Text Box 3"/>
          <p:cNvSpPr txBox="1"/>
          <p:nvPr/>
        </p:nvSpPr>
        <p:spPr>
          <a:xfrm>
            <a:off x="2438400" y="7733665"/>
            <a:ext cx="13316585" cy="1978660"/>
          </a:xfrm>
          <a:prstGeom prst="rect">
            <a:avLst/>
          </a:prstGeom>
          <a:noFill/>
        </p:spPr>
        <p:txBody>
          <a:bodyPr wrap="square" rtlCol="0">
            <a:noAutofit/>
          </a:bodyPr>
          <a:lstStyle/>
          <a:p>
            <a:r>
              <a:rPr lang="en-US" altLang="en-US" sz="2800">
                <a:latin typeface="Times New Roman" panose="02020603050405020304" pitchFamily="18" charset="0"/>
                <a:cs typeface="Times New Roman" panose="02020603050405020304" pitchFamily="18" charset="0"/>
              </a:rPr>
              <a:t>This image shows a Next Round Interview Details form in a Job Portal Management System. It allows recruiters to schedule the next stage of the hiring process by entering details such as interview type, date, time, and location. The system also provides options to add meeting links and instructions, which are sent to candidates for further communication.</a:t>
            </a:r>
          </a:p>
          <a:p>
            <a:endParaRPr lang="en-US" altLang="en-US" sz="2800">
              <a:latin typeface="Times New Roman" panose="02020603050405020304" pitchFamily="18" charset="0"/>
              <a:cs typeface="Times New Roman" panose="02020603050405020304" pitchFamily="18" charset="0"/>
            </a:endParaRPr>
          </a:p>
        </p:txBody>
      </p:sp>
      <p:pic>
        <p:nvPicPr>
          <p:cNvPr id="5" name="Picture 4" descr="Screenshot 2026-05-06 at 1.54.54 AM"/>
          <p:cNvPicPr>
            <a:picLocks noChangeAspect="1"/>
          </p:cNvPicPr>
          <p:nvPr/>
        </p:nvPicPr>
        <p:blipFill>
          <a:blip r:embed="rId2"/>
          <a:stretch>
            <a:fillRect/>
          </a:stretch>
        </p:blipFill>
        <p:spPr>
          <a:xfrm>
            <a:off x="6553200" y="1943100"/>
            <a:ext cx="5937885" cy="489648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35588" y="7321525"/>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9</a:t>
              </a:r>
            </a:p>
          </p:txBody>
        </p:sp>
      </p:grpSp>
      <p:grpSp>
        <p:nvGrpSpPr>
          <p:cNvPr id="8" name="Group 8"/>
          <p:cNvGrpSpPr/>
          <p:nvPr/>
        </p:nvGrpSpPr>
        <p:grpSpPr>
          <a:xfrm>
            <a:off x="977741" y="3315742"/>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77741" y="1982349"/>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77741" y="3983373"/>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77741" y="264811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77741" y="5318634"/>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p:cNvGrpSpPr/>
          <p:nvPr/>
        </p:nvGrpSpPr>
        <p:grpSpPr>
          <a:xfrm>
            <a:off x="977741" y="465100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p:cNvGrpSpPr/>
          <p:nvPr/>
        </p:nvGrpSpPr>
        <p:grpSpPr>
          <a:xfrm>
            <a:off x="977741" y="5986264"/>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77741" y="6653894"/>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16786360" y="-4299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2" name="TextBox 1"/>
          <p:cNvSpPr txBox="1"/>
          <p:nvPr/>
        </p:nvSpPr>
        <p:spPr>
          <a:xfrm>
            <a:off x="190500" y="290493"/>
            <a:ext cx="1612292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362200" y="1790700"/>
            <a:ext cx="9144000" cy="6985635"/>
          </a:xfrm>
          <a:prstGeom prst="rect">
            <a:avLst/>
          </a:prstGeom>
          <a:noFill/>
        </p:spPr>
        <p:txBody>
          <a:bodyPr wrap="square" rtlCol="0" anchor="t">
            <a:spAutoFit/>
          </a:bodyPr>
          <a:lstStyle/>
          <a:p>
            <a:r>
              <a:rPr lang="en-IN" altLang="en-US" sz="2800">
                <a:latin typeface="Times New Roman" panose="02020603050405020304" pitchFamily="18" charset="0"/>
                <a:cs typeface="Times New Roman" panose="02020603050405020304" pitchFamily="18" charset="0"/>
              </a:rPr>
              <a:t>&gt;</a:t>
            </a:r>
            <a:r>
              <a:rPr lang="en-US" altLang="en-US" sz="2800">
                <a:latin typeface="Times New Roman" panose="02020603050405020304" pitchFamily="18" charset="0"/>
                <a:cs typeface="Times New Roman" panose="02020603050405020304" pitchFamily="18" charset="0"/>
              </a:rPr>
              <a:t>ADVANTAGES</a:t>
            </a:r>
          </a:p>
          <a:p>
            <a:r>
              <a:rPr lang="en-US" altLang="en-US" sz="2800">
                <a:latin typeface="Times New Roman" panose="02020603050405020304" pitchFamily="18" charset="0"/>
                <a:cs typeface="Times New Roman" panose="02020603050405020304" pitchFamily="18" charset="0"/>
              </a:rPr>
              <a:t>Reduces manual work and paperwork in recruitment</a:t>
            </a:r>
          </a:p>
          <a:p>
            <a:r>
              <a:rPr lang="en-US" altLang="en-US" sz="2800">
                <a:latin typeface="Times New Roman" panose="02020603050405020304" pitchFamily="18" charset="0"/>
                <a:cs typeface="Times New Roman" panose="02020603050405020304" pitchFamily="18" charset="0"/>
              </a:rPr>
              <a:t>Saves time with quick online job search and application</a:t>
            </a:r>
          </a:p>
          <a:p>
            <a:r>
              <a:rPr lang="en-US" altLang="en-US" sz="2800">
                <a:latin typeface="Times New Roman" panose="02020603050405020304" pitchFamily="18" charset="0"/>
                <a:cs typeface="Times New Roman" panose="02020603050405020304" pitchFamily="18" charset="0"/>
              </a:rPr>
              <a:t>Minimizes errors in candidate data and application management</a:t>
            </a:r>
          </a:p>
          <a:p>
            <a:r>
              <a:rPr lang="en-US" altLang="en-US" sz="2800">
                <a:latin typeface="Times New Roman" panose="02020603050405020304" pitchFamily="18" charset="0"/>
                <a:cs typeface="Times New Roman" panose="02020603050405020304" pitchFamily="18" charset="0"/>
              </a:rPr>
              <a:t>Provides real-time updates on job postings and application status</a:t>
            </a:r>
          </a:p>
          <a:p>
            <a:r>
              <a:rPr lang="en-US" altLang="en-US" sz="2800">
                <a:latin typeface="Times New Roman" panose="02020603050405020304" pitchFamily="18" charset="0"/>
                <a:cs typeface="Times New Roman" panose="02020603050405020304" pitchFamily="18" charset="0"/>
              </a:rPr>
              <a:t>Easy access from anywhere (web-based platform)</a:t>
            </a:r>
          </a:p>
          <a:p>
            <a:endParaRPr lang="en-US" altLang="en-US" sz="2800">
              <a:latin typeface="Times New Roman" panose="02020603050405020304" pitchFamily="18" charset="0"/>
              <a:cs typeface="Times New Roman" panose="02020603050405020304" pitchFamily="18" charset="0"/>
            </a:endParaRPr>
          </a:p>
          <a:p>
            <a:r>
              <a:rPr lang="en-US" altLang="en-US" sz="2800">
                <a:latin typeface="Times New Roman" panose="02020603050405020304" pitchFamily="18" charset="0"/>
                <a:cs typeface="Times New Roman" panose="02020603050405020304" pitchFamily="18" charset="0"/>
              </a:rPr>
              <a:t>&gt; LIMITATIONS</a:t>
            </a:r>
          </a:p>
          <a:p>
            <a:r>
              <a:rPr lang="en-US" altLang="en-US" sz="2800">
                <a:latin typeface="Times New Roman" panose="02020603050405020304" pitchFamily="18" charset="0"/>
                <a:cs typeface="Times New Roman" panose="02020603050405020304" pitchFamily="18" charset="0"/>
              </a:rPr>
              <a:t>Requires stable internet connection</a:t>
            </a:r>
          </a:p>
          <a:p>
            <a:r>
              <a:rPr lang="en-US" altLang="en-US" sz="2800">
                <a:latin typeface="Times New Roman" panose="02020603050405020304" pitchFamily="18" charset="0"/>
                <a:cs typeface="Times New Roman" panose="02020603050405020304" pitchFamily="18" charset="0"/>
              </a:rPr>
              <a:t>Depends on system/server availability</a:t>
            </a:r>
          </a:p>
          <a:p>
            <a:r>
              <a:rPr lang="en-US" altLang="en-US" sz="2800">
                <a:latin typeface="Times New Roman" panose="02020603050405020304" pitchFamily="18" charset="0"/>
                <a:cs typeface="Times New Roman" panose="02020603050405020304" pitchFamily="18" charset="0"/>
              </a:rPr>
              <a:t>Initial development and maintenance cost</a:t>
            </a:r>
          </a:p>
          <a:p>
            <a:r>
              <a:rPr lang="en-US" altLang="en-US" sz="2800">
                <a:latin typeface="Times New Roman" panose="02020603050405020304" pitchFamily="18" charset="0"/>
                <a:cs typeface="Times New Roman" panose="02020603050405020304" pitchFamily="18" charset="0"/>
              </a:rPr>
              <a:t>Risk of technical issues or software bugs</a:t>
            </a:r>
          </a:p>
          <a:p>
            <a:r>
              <a:rPr lang="en-US" altLang="en-US" sz="2800">
                <a:latin typeface="Times New Roman" panose="02020603050405020304" pitchFamily="18" charset="0"/>
                <a:cs typeface="Times New Roman" panose="02020603050405020304" pitchFamily="18" charset="0"/>
              </a:rPr>
              <a:t>Users need basic digital literacy</a:t>
            </a:r>
          </a:p>
          <a:p>
            <a:endParaRPr lang="en-US" altLang="en-US"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50"/>
              </a:lnSpc>
            </a:pPr>
            <a:r>
              <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1654</Words>
  <Application>Microsoft Office PowerPoint</Application>
  <PresentationFormat>Custom</PresentationFormat>
  <Paragraphs>336</Paragraphs>
  <Slides>17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Cambria</vt:lpstr>
      <vt:lpstr>Arial</vt:lpstr>
      <vt:lpstr>Gotham</vt:lpstr>
      <vt:lpstr>Times New Roman</vt:lpstr>
      <vt:lpstr>Bookman Old Style</vt:lpstr>
      <vt:lpstr>Calibri</vt:lpstr>
      <vt:lpstr>Gotham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Sri venkata Siddardha</dc:creator>
  <cp:lastModifiedBy>Sri venkata Siddardha</cp:lastModifiedBy>
  <cp:revision>17</cp:revision>
  <dcterms:created xsi:type="dcterms:W3CDTF">2006-08-16T00:00:00Z</dcterms:created>
  <dcterms:modified xsi:type="dcterms:W3CDTF">2026-05-06T03:39:08Z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1033-12.1.0.25862</vt:lpwstr>
  </property>
  <property fmtid="{D5CDD505-2E9C-101B-9397-08002B2CF9AE}" pid="3" name="ICV">
    <vt:lpwstr>A4C2D5C884DF4C7AA557BBBE4B348FE6_13</vt:lpwstr>
  </property>
</Properties>
</file>